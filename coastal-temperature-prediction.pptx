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50c5f8c05647c4" /><Relationship Type="http://schemas.openxmlformats.org/officeDocument/2006/relationships/extended-properties" Target="/docProps/app.xml" Id="Rc207d16caaba4ba6" /><Relationship Type="http://schemas.openxmlformats.org/officeDocument/2006/relationships/officeDocument" Target="/ppt/presentation.xml" Id="Rc19d53d14fb44a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dbc4caa9ad4cf0"/>
  </p:sldMasterIdLst>
  <p:notesMasterIdLst>
    <p:notesMasterId xmlns:r="http://schemas.openxmlformats.org/officeDocument/2006/relationships" r:id="Re7a49fb2f3824b1a"/>
  </p:notesMasterIdLst>
  <p:sldIdLst>
    <p:sldId xmlns:r="http://schemas.openxmlformats.org/officeDocument/2006/relationships" id="256" r:id="R07b1884f5f3f49f6"/>
    <p:sldId xmlns:r="http://schemas.openxmlformats.org/officeDocument/2006/relationships" id="257" r:id="R12367cc2a48545b9"/>
    <p:sldId xmlns:r="http://schemas.openxmlformats.org/officeDocument/2006/relationships" id="258" r:id="R867b554137ab4b90"/>
    <p:sldId xmlns:r="http://schemas.openxmlformats.org/officeDocument/2006/relationships" id="259" r:id="R865a553a7da44adf"/>
    <p:sldId xmlns:r="http://schemas.openxmlformats.org/officeDocument/2006/relationships" id="260" r:id="R7b1b45d96c064145"/>
    <p:sldId xmlns:r="http://schemas.openxmlformats.org/officeDocument/2006/relationships" id="261" r:id="Rd325c74bd4414b2c"/>
    <p:sldId xmlns:r="http://schemas.openxmlformats.org/officeDocument/2006/relationships" id="262" r:id="Rc656efa74ca64524"/>
    <p:sldId xmlns:r="http://schemas.openxmlformats.org/officeDocument/2006/relationships" id="263" r:id="Rde84ab4c86cf4c1c"/>
    <p:sldId xmlns:r="http://schemas.openxmlformats.org/officeDocument/2006/relationships" id="264" r:id="R40a1e283cf644414"/>
    <p:sldId xmlns:r="http://schemas.openxmlformats.org/officeDocument/2006/relationships" id="265" r:id="R8f5eec61f52b4d5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bc4caa9ad4cf0" /><Relationship Type="http://schemas.openxmlformats.org/officeDocument/2006/relationships/theme" Target="/ppt/theme/theme1.xml" Id="R862ddb2fec984636" /><Relationship Type="http://schemas.openxmlformats.org/officeDocument/2006/relationships/notesMaster" Target="/ppt/notesMasters/notesMaster1.xml" Id="Re7a49fb2f3824b1a" /><Relationship Type="http://schemas.openxmlformats.org/officeDocument/2006/relationships/presProps" Target="/ppt/presProps.xml" Id="R3ef167e8f70146d5" /><Relationship Type="http://schemas.openxmlformats.org/officeDocument/2006/relationships/viewProps" Target="/ppt/viewProps.xml" Id="Rb09ea9e5615e4b70" /><Relationship Type="http://schemas.openxmlformats.org/officeDocument/2006/relationships/tableStyles" Target="/ppt/tableStyles.xml" Id="R5a74aa009b2146a2" /><Relationship Type="http://schemas.openxmlformats.org/officeDocument/2006/relationships/slide" Target="/ppt/slides/slide1.xml" Id="R07b1884f5f3f49f6" /><Relationship Type="http://schemas.openxmlformats.org/officeDocument/2006/relationships/slide" Target="/ppt/slides/slide2.xml" Id="R12367cc2a48545b9" /><Relationship Type="http://schemas.openxmlformats.org/officeDocument/2006/relationships/slide" Target="/ppt/slides/slide3.xml" Id="R867b554137ab4b90" /><Relationship Type="http://schemas.openxmlformats.org/officeDocument/2006/relationships/slide" Target="/ppt/slides/slide4.xml" Id="R865a553a7da44adf" /><Relationship Type="http://schemas.openxmlformats.org/officeDocument/2006/relationships/slide" Target="/ppt/slides/slide5.xml" Id="R7b1b45d96c064145" /><Relationship Type="http://schemas.openxmlformats.org/officeDocument/2006/relationships/slide" Target="/ppt/slides/slide6.xml" Id="Rd325c74bd4414b2c" /><Relationship Type="http://schemas.openxmlformats.org/officeDocument/2006/relationships/slide" Target="/ppt/slides/slide7.xml" Id="Rc656efa74ca64524" /><Relationship Type="http://schemas.openxmlformats.org/officeDocument/2006/relationships/slide" Target="/ppt/slides/slide8.xml" Id="Rde84ab4c86cf4c1c" /><Relationship Type="http://schemas.openxmlformats.org/officeDocument/2006/relationships/slide" Target="/ppt/slides/slide9.xml" Id="R40a1e283cf644414" /><Relationship Type="http://schemas.openxmlformats.org/officeDocument/2006/relationships/slide" Target="/ppt/slides/slide10.xml" Id="R8f5eec61f52b4d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1b9fb5e18045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fc65afdbd94e39" /><Relationship Type="http://schemas.openxmlformats.org/officeDocument/2006/relationships/notesMaster" Target="/ppt/notesMasters/notesMaster1.xml" Id="Rc2e0e06a91544f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3be92e52c4447b" /><Relationship Type="http://schemas.openxmlformats.org/officeDocument/2006/relationships/notesMaster" Target="/ppt/notesMasters/notesMaster1.xml" Id="R2b263a46426948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5414d77b04054" /><Relationship Type="http://schemas.openxmlformats.org/officeDocument/2006/relationships/notesMaster" Target="/ppt/notesMasters/notesMaster1.xml" Id="R55ad9ccc558544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f7de1e5bea4875" /><Relationship Type="http://schemas.openxmlformats.org/officeDocument/2006/relationships/notesMaster" Target="/ppt/notesMasters/notesMaster1.xml" Id="R723cebf5279e42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16c6afc6e84cb2" /><Relationship Type="http://schemas.openxmlformats.org/officeDocument/2006/relationships/notesMaster" Target="/ppt/notesMasters/notesMaster1.xml" Id="Re22942f0050d40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df431ffbf248e6" /><Relationship Type="http://schemas.openxmlformats.org/officeDocument/2006/relationships/notesMaster" Target="/ppt/notesMasters/notesMaster1.xml" Id="Rf1ba1ec455dd41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b4593f1d4c441c" /><Relationship Type="http://schemas.openxmlformats.org/officeDocument/2006/relationships/notesMaster" Target="/ppt/notesMasters/notesMaster1.xml" Id="Rb67cf853948049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1fd81a2e3f4627" /><Relationship Type="http://schemas.openxmlformats.org/officeDocument/2006/relationships/notesMaster" Target="/ppt/notesMasters/notesMaster1.xml" Id="Rcb70b6a6666148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dad1a7e6874eb5" /><Relationship Type="http://schemas.openxmlformats.org/officeDocument/2006/relationships/notesMaster" Target="/ppt/notesMasters/notesMaster1.xml" Id="R71834e0055504c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f3a8b723c64bb8" /><Relationship Type="http://schemas.openxmlformats.org/officeDocument/2006/relationships/notesMaster" Target="/ppt/notesMasters/notesMaster1.xml" Id="Rc8fe4d0134c148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59d6f69a814f4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dbda5475aa54f04" /><Relationship Type="http://schemas.openxmlformats.org/officeDocument/2006/relationships/slideLayout" Target="/ppt/slideLayouts/slideLayout2.xml" Id="R2f2199f595f147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2199f595f147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09fe77713446fe" /><Relationship Type="http://schemas.openxmlformats.org/officeDocument/2006/relationships/notesSlide" Target="/ppt/notesSlides/notesSlide1.xml" Id="R8880e51ffaa848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cc2ec5e49f4b8b" /><Relationship Type="http://schemas.openxmlformats.org/officeDocument/2006/relationships/notesSlide" Target="/ppt/notesSlides/notesSlide2.xml" Id="R4298304500a741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2d7084b31645a2" /><Relationship Type="http://schemas.openxmlformats.org/officeDocument/2006/relationships/image" Target="/ppt/media/image.png" Id="R2ef0fb94ae584713" /><Relationship Type="http://schemas.openxmlformats.org/officeDocument/2006/relationships/notesSlide" Target="/ppt/notesSlides/notesSlide3.xml" Id="Rb4c9fadc456649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d1ea3dd1994589" /><Relationship Type="http://schemas.openxmlformats.org/officeDocument/2006/relationships/image" Target="/ppt/media/image2.png" Id="Rdc769502c2b3404b" /><Relationship Type="http://schemas.openxmlformats.org/officeDocument/2006/relationships/notesSlide" Target="/ppt/notesSlides/notesSlide4.xml" Id="R030e12889e3443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7bde63bc2e4adf" /><Relationship Type="http://schemas.openxmlformats.org/officeDocument/2006/relationships/notesSlide" Target="/ppt/notesSlides/notesSlide5.xml" Id="Rd6a2439a8efa45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712a0cce8a4f4a" /><Relationship Type="http://schemas.openxmlformats.org/officeDocument/2006/relationships/notesSlide" Target="/ppt/notesSlides/notesSlide6.xml" Id="Racfa9ccfdd4f4e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420d4927944080" /><Relationship Type="http://schemas.openxmlformats.org/officeDocument/2006/relationships/image" Target="/ppt/media/image3.png" Id="R7f328908c6cf40ec" /><Relationship Type="http://schemas.openxmlformats.org/officeDocument/2006/relationships/notesSlide" Target="/ppt/notesSlides/notesSlide7.xml" Id="R2534a634b3b24d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7b5b5fe898423e" /><Relationship Type="http://schemas.openxmlformats.org/officeDocument/2006/relationships/image" Target="/ppt/media/image4.png" Id="R0606bce4634b4714" /><Relationship Type="http://schemas.openxmlformats.org/officeDocument/2006/relationships/notesSlide" Target="/ppt/notesSlides/notesSlide8.xml" Id="Rc97a1b86ea6140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d01143870f4a5b" /><Relationship Type="http://schemas.openxmlformats.org/officeDocument/2006/relationships/image" Target="/ppt/media/image5.png" Id="Ra004795dc42a4262" /><Relationship Type="http://schemas.openxmlformats.org/officeDocument/2006/relationships/notesSlide" Target="/ppt/notesSlides/notesSlide9.xml" Id="R7d7464390a9149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2681a57ba44291" /><Relationship Type="http://schemas.openxmlformats.org/officeDocument/2006/relationships/image" Target="/ppt/media/image6.png" Id="Re75959945ad64ebd" /><Relationship Type="http://schemas.openxmlformats.org/officeDocument/2006/relationships/notesSlide" Target="/ppt/notesSlides/notesSlide10.xml" Id="R8c615b31eb3d431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766C90-6CBF-4775-9444-26BE9A6D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0DD7C-CF08-470A-81D7-A972216E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08CBAE-FED3-4E25-BAE4-3CC3994F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5E1C24-5CCF-4EB8-A01F-461C840E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CD76D-9958-41B4-8450-A2860A7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572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Coastal Temperature Prediction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660F1-8A05-4E4C-A93E-56589357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Can current-season climate indices predict next-season coastal temperature anomalies?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0EC72-9176-47B9-9A2B-8315A1DF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We compare the West Coast and East Coast with the same simple lagged regression setup.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347FA-F8AA-4EB0-8129-197BE1F3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3B953-98CC-4CD0-92E0-CF6CA62C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F7C8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F7C8C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175E8-C933-40E0-AC9C-4B77BDBA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coastal target regions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E2EB34-6CF1-4F9F-B39E-0DA1D673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719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BBA99-7251-422C-AA43-0F1B5CC1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314825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D6A9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6A93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2B0FFA-01EF-474B-BC2D-9829FAF2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6863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climate predictors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B1466-981A-414D-96C6-9DB529FC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719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8C0950-67E1-4C48-B76B-83F994A1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14825"/>
            <a:ext cx="2228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455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C4553D"/>
                </a:solidFill>
                <a:latin typeface="Aptos Display"/>
                <a:ea typeface="Aptos Display"/>
                <a:cs typeface="Aptos Display"/>
              </a:rPr>
              <a:t>263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48AB8-7E77-45F9-9E1F-04C68663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6863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one-season-ahead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9944C3-6021-4761-A5C0-F8C592D2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876300"/>
            <a:ext cx="2857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783585-B156-4278-9839-327C893F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219200"/>
            <a:ext cx="2247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Main 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A17F2A-2090-4ACF-BB4F-9F00DA7A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3830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signal is limited, but clearer for the West Coast. Warm test seasons are often underpredicted.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B161C5-69C5-4062-ADE8-769E1ED3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4387C2-7E81-4C40-A9AD-BEB97FF8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9919044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2A7879-A27C-4182-9D6A-48D7BB79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1F57D-851C-4789-87F5-C8E8FEBD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3FB11D-50AF-4415-891E-A04C2305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CF515-7715-4AB2-A04E-1150988C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Prediction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FE594-FF4B-4105-BD13-B0C30E5C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DCD7B-F885-46CD-95B6-7C2F35DF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We test a one-season-ahead prediction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67DD40-3EB5-43AC-B3E4-53C638D2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885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 same-season model would mostly describe co-movement. Here the predictors must carry information forward, so the question is harder.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9CDBF-6052-4170-B015-62B97368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71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9525">
            <a:solidFill>
              <a:srgbClr val="2F7C8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77265-D56F-4A91-B774-9EB80695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52750"/>
            <a:ext cx="2971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DE8AF-201A-401E-99D9-A46CF1EC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52750"/>
            <a:ext cx="2971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AE6"/>
          </a:solidFill>
          <a:ln xmlns:a="http://schemas.openxmlformats.org/drawingml/2006/main" w="9525">
            <a:solidFill>
              <a:srgbClr val="C4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707B4-3A7A-4D6A-9F59-87B47390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813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Current season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EFAE0-81AA-4A3D-9FE0-52221F17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7187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 3.4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PDO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C90A10-3DB3-4236-ADBD-BA5382C8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76600"/>
            <a:ext cx="2333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Lag by one season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3E094F-4F48-41A5-80E1-D54D657A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9570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 predictors  -&gt;  next target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1C81D-6691-4DB5-A6E4-8E40FF66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813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Next season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6AF8D9-CC97-4438-AB7C-3CD2CD9A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638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West Coast temp anomaly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East Coast temp anomaly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69A67B-42B7-49E0-BD77-34F2DA0B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33950"/>
            <a:ext cx="800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target is an anomaly, so we predict departures from each coast's normal seasonal pattern.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10F686-9E45-428E-AD6A-69DC3BC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7AEC21-B341-468C-8AB5-2E563471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561120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61B5DC-EEB9-4E56-8B25-8EFAEF57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882C0-593A-47F5-9937-5F1064CC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B211D6-09F9-4EAE-8BA6-23851F73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7EFD0-312A-499B-ADB2-FC33D7CF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A8CD4-C003-46E1-9608-9860613F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TARGETS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85303-4A2B-47E3-813F-D4DF3A0A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two coast boxes give comparable regional targets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928BF-4F6F-442E-991C-7DFD593C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69532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0fb94ae584713"/>
          <a:stretch xmlns:a="http://schemas.openxmlformats.org/drawingml/2006/main"/>
        </p:blipFill>
        <p:spPr>
          <a:xfrm xmlns:a="http://schemas.openxmlformats.org/drawingml/2006/main">
            <a:off x="1120132" y="1638300"/>
            <a:ext cx="6046486" cy="3429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F6323-1E3F-4439-AB72-1D85F0E6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42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D3674-6DE7-4BAF-8245-6E8BB0AC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240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Data used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74EDFC-2AC1-46DD-85EA-70E30236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27813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ERA5 monthly 2m temperature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 x 1 degree grid, 1959-2024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Climate indices: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 3.4, PDO, AO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Each season becomes one row.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57293-5AC5-4D44-8C44-7B8493D1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910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The boxes are broad regional proxies, not exact land-only coastal masks.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3EA87-22FB-4369-8FFC-4BF5FDA3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45EC61-1FB2-4B92-816A-831EED64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17518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9A39FD-2A3C-479C-B72B-C3562B05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89FDD-B932-4ED9-9830-ACE926C8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F28BF-A4B0-40DC-A94D-5BC55D42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559BE-C14D-44B3-AFD7-D5E90866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076F1-022A-4E2F-B0FA-FBC71671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PREPROCESSING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439ED-79E5-4ABA-96DD-DCA3A5A1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Seasonal anomalies reveal a warmer held-out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64B8D-C637-4828-94E8-1BF16ED8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78676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769502c2b3404b"/>
          <a:stretch xmlns:a="http://schemas.openxmlformats.org/drawingml/2006/main"/>
        </p:blipFill>
        <p:spPr>
          <a:xfrm xmlns:a="http://schemas.openxmlformats.org/drawingml/2006/main">
            <a:off x="950889" y="1619250"/>
            <a:ext cx="7108872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992967-671F-4A47-A321-CE434B82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71650"/>
            <a:ext cx="3238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F737F-34AD-437B-BC11-281CA58A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764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Why anomalies?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E5D16-8AD5-4D56-88FE-5BEDC4CA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14600"/>
            <a:ext cx="2628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We remove each coast's usual seasonal mean.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This keeps winter and summer from being compared as raw temperatures.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E8732F-BC0E-4367-B568-0EFB01F5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43350"/>
            <a:ext cx="2628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4553D"/>
                </a:solidFill>
                <a:latin typeface="Aptos"/>
                <a:ea typeface="Aptos"/>
                <a:cs typeface="Aptos"/>
              </a:rPr>
              <a:t>The test period has many warm anomalies, so it is a useful stress 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C687F3-D5F5-4FC0-892D-92F0BBED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39DFBD-9D1E-4E06-BD6F-D746AF64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920947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49C910-D386-4A57-A571-40913736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4B088-7E86-488D-A1B2-A1065EC6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DC9BC-A514-4D05-A81A-4E4EEEAC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D28BE-8B28-45B3-9358-413BA562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Predictors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BB7F5-6A42-4AFA-8D1A-AB43A4AA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CLIMATE INDICES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A7591-38D2-4E21-A25A-2F1555E5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predictors describe different parts of climate variability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E041C-31CE-401E-88AA-BDB9F749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048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9525">
            <a:solidFill>
              <a:srgbClr val="2F7C8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862145-DAB8-4F33-A9DD-A6B03765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Nino 3.4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3C092-08DC-4C1A-AEFC-35A2BA39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0375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Tropical Pacific SST anomalies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A2F9C-47E7-4C2B-8108-D0824C16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2238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Current-season 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41C27-3F36-4C70-A20A-8D07CEC2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048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BCB"/>
          </a:solidFill>
          <a:ln xmlns:a="http://schemas.openxmlformats.org/drawingml/2006/main" w="9525">
            <a:solidFill>
              <a:srgbClr val="D6A9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FF5F3-528F-4B50-857F-86D70842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003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D6A9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6A93D"/>
                </a:solidFill>
                <a:latin typeface="Aptos"/>
                <a:ea typeface="Aptos"/>
                <a:cs typeface="Aptos"/>
              </a:rPr>
              <a:t>PDO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40B53-8C61-456E-8BD9-90EE9C4D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00375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North Pacific sea-surface pattern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926F2-FC87-497B-9FD9-C5F1D0ED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05250"/>
            <a:ext cx="2238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Current-season mean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09431C-1934-4351-9331-93BE0009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048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AE6"/>
          </a:solidFill>
          <a:ln xmlns:a="http://schemas.openxmlformats.org/drawingml/2006/main" w="9525">
            <a:solidFill>
              <a:srgbClr val="C455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8C428-BC19-447C-815B-C3E5FC9B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003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AO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D3C-CFB7-48AD-B3C7-302A112B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Northern Hemisphere circulation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E424A-360C-4AE3-BB1F-27C7E087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05250"/>
            <a:ext cx="2238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Current-season mean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5E2625-505A-4501-8F2B-74830EDA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010150"/>
            <a:ext cx="857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All three predictors use seasonal means. We keep the timing aligned with the temperature targets.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792AB-2AD2-433E-A2B8-F0768CF6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1C0E86-1BBB-478F-81BB-43761A10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431191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F548A6-A777-4980-B8F8-6C5A5AFB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3768F5-4478-4B2C-864A-945CB92C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5CCBF-7E4C-49D1-9FCB-B3F1BA8B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40724-6E59-4F12-992C-675C8B20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6F5D0-1AEC-4301-94DD-D7CE90C4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METHODS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C2C1F-AB9C-4679-8820-51AC8EF9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models stay simple so the comparison is clear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DD408-6F53-4A31-8D99-571416FA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2669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6339E-6B46-4093-9EEC-2E61E9A9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479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E7024-40D2-40E5-883F-3EE6F29D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479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training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E069B-0FE8-42DB-886C-352ECEF8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00250"/>
            <a:ext cx="22669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4912D-EB77-4140-BDCF-0E8B8AB1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479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EC8875-C948-40BA-8E94-4F1E3570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479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E1E31B-1D07-429C-9475-16C0F192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00250"/>
            <a:ext cx="22669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A5B29-0189-4E51-8EFC-7BF329C3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479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 + PDO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A3DF5-C5E1-43A3-86C1-946C0189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479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3.4, PDO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2053F-3724-4A5B-97EA-FC4253C7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00250"/>
            <a:ext cx="22669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9525">
            <a:solidFill>
              <a:srgbClr val="2F7C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56A69-F14F-4BBE-8445-0FF4D7BE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479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Full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701124-C004-4C4D-A183-BB6CA11C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6479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3.4, PDO, AO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6B49A-67E2-4079-A20C-B5E82167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9620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A4CDCA-1400-419E-88EB-0817B8C9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24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Time-ordered split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EE527-06AF-423B-9178-F05E2814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38650"/>
            <a:ext cx="4591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6FB2B1-536D-4E97-B06A-D2293211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386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222565-79FE-4142-931C-A9B47EC6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6482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F7C8C"/>
                </a:solidFill>
                <a:latin typeface="Aptos"/>
                <a:ea typeface="Aptos"/>
                <a:cs typeface="Aptos"/>
              </a:rPr>
              <a:t>Train: 210 rows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2AFB1F-EF2C-4E2A-A600-91A3647B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482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4553D"/>
                </a:solidFill>
                <a:latin typeface="Aptos"/>
                <a:ea typeface="Aptos"/>
                <a:cs typeface="Aptos"/>
              </a:rPr>
              <a:t>Test: 53 rows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D9D7EB-E0CF-4B64-9A2C-FBEB8863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672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1959 MAM to 2024 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BBD098-9B31-488E-BC42-40D810EB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8288EA-7141-4269-B867-D66D0962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82A7D9-D4FF-4CEB-B297-F4CC043E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81600"/>
            <a:ext cx="838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We fit the same four models for both coasts. This keeps the focus on timing and regional differences.</a:t>
            </a:r>
          </a:p>
        </p:txBody>
      </p:sp>
    </p:spTree>
    <p:extLst>
      <p:ext uri="{BB962C8B-B14F-4D97-AF65-F5344CB8AC3E}">
        <p14:creationId xmlns:p14="http://schemas.microsoft.com/office/powerpoint/2010/main" val="7085101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535F1E-5D2D-4FB1-9A87-F6396E8A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9A97F-F00E-4680-A33C-12E6498D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00668-F8AB-4536-8D07-B9FD457F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CE548-2A1B-4A09-8234-2145EB92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Regression checks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27E4C-3E6C-4246-B0CE-DAF98939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COLLINEARITY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29E12-93CD-420D-8277-D4353A32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Predictors are related, but collinearity is not severe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59D2AA-B62F-4550-ABCD-A15BDF68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5715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28908c6cf40ec"/>
          <a:stretch xmlns:a="http://schemas.openxmlformats.org/drawingml/2006/main"/>
        </p:blipFill>
        <p:spPr>
          <a:xfrm xmlns:a="http://schemas.openxmlformats.org/drawingml/2006/main">
            <a:off x="1063651" y="1562100"/>
            <a:ext cx="4768798" cy="4019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BD9ED-246F-405D-A3E2-0B7721B5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Variance inflation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FBE67-A37C-4D4F-9702-F8838C84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14550"/>
            <a:ext cx="3048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9F6804-5D42-48E1-B64C-BC4FED46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145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30B004-08A4-4AF8-AD81-823701C7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9075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Predictor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A96911-44CA-40D4-8D30-3D593383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145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466C6B-2F98-4B28-8DBE-04584F8D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9075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VIF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658CF6-09A3-4B78-996E-AF2C352C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146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A91D1-CE6A-497D-869A-C7DB533E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9080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A8AEDE-4F83-4E9F-9EED-E0ED3723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1460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F96C6C-32FD-4AE3-9EEF-7ACCC5BC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9080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1.18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5ADD3-6E08-4AF8-B402-4D53E2B2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146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A64391-A7AE-4A2B-BC71-B3A52332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9085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DF0324-829B-4FA3-AB80-836304B3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14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8DAB4-8A0E-4AEA-9F85-F7F08336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9085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1.25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A2A63E-D2AB-483D-BFA2-87835D3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147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68BA9-6BD9-406A-8BCF-11073EE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9090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3041B-58D3-4FE5-8783-4ED766FC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1470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5B998-0A6F-4717-B13F-53FEA73F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9090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1.07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8CE3DB-7E05-4E4F-BB81-1066514A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91000"/>
            <a:ext cx="371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BCB"/>
          </a:solidFill>
          <a:ln xmlns:a="http://schemas.openxmlformats.org/drawingml/2006/main" w="9525">
            <a:solidFill>
              <a:srgbClr val="D6A9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C986C7-F2BB-4398-916B-986D6194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00550"/>
            <a:ext cx="3219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VIF is close to 1 for every predictor, so collinearity is low.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E02591-585D-4C96-B09A-3BEB5F6A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F26DE0-B594-4A86-B973-907BEF48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420278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2E0B6D-F80C-4FBF-8CB8-B213ED2F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87007-F7FF-47B6-9D56-31CD83C1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88702-2E4F-463D-8F39-7E42A6C2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2D03A-C4CC-4E44-A806-2802A3B7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Out-of-sample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CC763-9713-4A6D-84CF-E3C8CD53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MODEL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AFCA8-BB73-4A83-BDF8-50DD5859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Out-of-sample prediction skill is limited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101EB-DB56-4992-AC82-8DA49A6E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6bce4634b4714"/>
          <a:stretch xmlns:a="http://schemas.openxmlformats.org/drawingml/2006/main"/>
        </p:blipFill>
        <p:spPr>
          <a:xfrm xmlns:a="http://schemas.openxmlformats.org/drawingml/2006/main">
            <a:off x="816950" y="1600200"/>
            <a:ext cx="6367100" cy="3829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7DDD0-ED2E-4BE1-A7E7-528E5E3C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95450"/>
            <a:ext cx="3524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CA086-3B85-4267-9062-F4735B0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240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Full-model RMSE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C98DA-1A11-4BFC-90FA-A991F97B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1285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1.115 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8A039-52CD-44EF-85CB-7B37052B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66950"/>
            <a:ext cx="1285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1.026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358F6D-8E28-479D-A6E2-DA9F5E54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524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AE6"/>
          </a:solidFill>
          <a:ln xmlns:a="http://schemas.openxmlformats.org/drawingml/2006/main" w="9525">
            <a:solidFill>
              <a:srgbClr val="C4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59A132-FEF9-4DD2-9B88-7EEB84EC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9090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Test R2 is negative for both coasts: -1.629 west, -2.625 east.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2EDAB9-8B52-479C-AFAD-6F249AC5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57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The indices add some signal, but the held-out forecast is still weak.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5C5EC9-11CC-4A5A-82D9-306234C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590CE-F973-4CF9-8D49-2552F57E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68013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7FEA0E-8B2D-45F3-AB68-0D0EDEF7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8CFEA-0899-4DEA-B7DF-6A7E63F8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9337F-7435-4FB2-A9D8-F0197D89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98C4A-4E8C-468F-AD44-8064C99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Regional 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3AB01-A0F7-40A7-8A58-F329C1E8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REGIONAL CONTRAST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8C05F-5CF7-4F9F-BB7C-E7520550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West Coast signal is clearer than the East Coast 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82533-43BB-4549-838D-8B7D6BA0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68961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04795dc42a4262"/>
          <a:stretch xmlns:a="http://schemas.openxmlformats.org/drawingml/2006/main"/>
        </p:blipFill>
        <p:spPr>
          <a:xfrm xmlns:a="http://schemas.openxmlformats.org/drawingml/2006/main">
            <a:off x="792229" y="1600200"/>
            <a:ext cx="6416543" cy="3829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E0CBD-4733-4F69-9047-7273ED88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95450"/>
            <a:ext cx="3524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4"/>
          </a:solidFill>
          <a:ln xmlns:a="http://schemas.openxmlformats.org/drawingml/2006/main" w="9525">
            <a:solidFill>
              <a:srgbClr val="2F7C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14DA0-6358-4508-AA44-2C508793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240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Test correlation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0A6B30-F3F0-4F4C-8EB8-8A4F38A8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0.363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08FE2-A1C2-4CFC-8A75-B785B0EC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431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West Coast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39C9E-0079-4BB4-8402-43E780A6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86100"/>
            <a:ext cx="3524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AE6"/>
          </a:solidFill>
          <a:ln xmlns:a="http://schemas.openxmlformats.org/drawingml/2006/main" w="9525">
            <a:solidFill>
              <a:srgbClr val="C4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1A86ED-2E57-448F-8AD9-55C1949D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0.265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8C5BA9-BEF7-43DF-A948-F2FB27BB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814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East Coast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371691-16EC-45A9-ADEA-84CA8EEC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720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West Coast keeps a clearer Nino 3.4 signal, matching its closer link to the Pacific.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839B1-977B-41A8-80DA-B58620FC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6F6175-611A-4443-A763-55DDC3C3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7942995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909240-6DF3-44C0-83D7-7BD43E67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D659E-6372-40AF-BB39-051CDD71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2DC76-72FD-432F-A1AD-8060A772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72275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5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A5B2D-FF8C-4632-8922-D9607952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484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E8BC32-FC1A-440B-A846-852F02EB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RESIDUALS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CB5284-5E17-4B7F-85F2-1ED24A0B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model misses many warm test-period anomalies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402AB-927D-43F2-85C2-827F68EB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5247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959945ad64ebd"/>
          <a:stretch xmlns:a="http://schemas.openxmlformats.org/drawingml/2006/main"/>
        </p:blipFill>
        <p:spPr>
          <a:xfrm xmlns:a="http://schemas.openxmlformats.org/drawingml/2006/main">
            <a:off x="723900" y="1604007"/>
            <a:ext cx="7219950" cy="351663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07302-B9DC-44E9-BA67-450CC063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76400"/>
            <a:ext cx="3238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ADD949-741B-4C73-ADFF-2A2853F1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240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Mean residual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0C8CD-05D5-410B-BD97-91FB0A9D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+0.912 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71F1E-9132-4D16-A462-6A2CC78A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+0.884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22D74D-40AF-4941-A823-FF70A8C8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33750"/>
            <a:ext cx="323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BCB"/>
          </a:solidFill>
          <a:ln xmlns:a="http://schemas.openxmlformats.org/drawingml/2006/main" w="9525">
            <a:solidFill>
              <a:srgbClr val="D6A9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FE9C2-B9FE-4950-A852-861632A6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004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Positive residual means observed &gt; predicted. The model often predicts too cold.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49538-1630-4A2F-884F-FE87892D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769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Bottom line: useful signal, weak forecast. The residuals show where the simple model breaks down.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6CA15C-4FA8-4C58-9801-4B971FDF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BDEB8-68E4-46A1-9DA1-2E184CA2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770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777113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2026-05-24T05:56:53.3760000Z</dcterms:created>
  <dcterms:modified xsi:type="dcterms:W3CDTF">2026-05-24T05:56:53.3760000Z</dcterms:modified>
</coreProperties>
</file>
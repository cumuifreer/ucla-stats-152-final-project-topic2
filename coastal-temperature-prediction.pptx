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B8766C90-6CBF-4775-9444-26BE9A6D7D72}"/>
              </a:ext>
            </a:extLst>
          </p:cNvPr>
          <p:cNvSpPr>
            <a:spLocks noGrp="1"/>
          </p:cNvSpPr>
          <p:nvPr/>
        </p:nvSpPr>
        <p:spPr>
          <a:xfrm>
            <a:off x="0" y="30480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F0DD7C-CF08-470A-81D7-A972216EFF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08CBAE-FED3-4E25-BAE4-3CC3994F7EB1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5E1C24-5CCF-4EB8-A01F-461C840E1F3D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3CD76D-9958-41B4-8450-A2860A7F521F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85725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4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Coastal Temperature Prediction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3660F1-8A05-4E4C-A93E-565893572A2B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7810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Can current-season climate indices predict next-season coastal temperature anomalies?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10EC72-9176-47B9-9A2B-8315A1DF7556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685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 compare the West Coast and East Coast with the same simple lagged regression setup.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5347FA-F8AA-4EB0-8129-197BE1F37BF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73B953-98CC-4CD0-92E0-CF6CA62C338C}"/>
              </a:ext>
            </a:extLst>
          </p:cNvPr>
          <p:cNvSpPr>
            <a:spLocks noGrp="1"/>
          </p:cNvSpPr>
          <p:nvPr/>
        </p:nvSpPr>
        <p:spPr>
          <a:xfrm>
            <a:off x="857250" y="4314825"/>
            <a:ext cx="1847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2F7C8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7C8C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8175E8-C933-40E0-AC9C-4B77BDBAE56C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coastal target regions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E2EB34-6CF1-4F9F-B39E-0DA1D673D7C4}"/>
              </a:ext>
            </a:extLst>
          </p:cNvPr>
          <p:cNvSpPr>
            <a:spLocks noGrp="1"/>
          </p:cNvSpPr>
          <p:nvPr/>
        </p:nvSpPr>
        <p:spPr>
          <a:xfrm>
            <a:off x="3105150" y="4171950"/>
            <a:ext cx="219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3BBA99-7251-422C-AA43-0F1B5CC1C9F4}"/>
              </a:ext>
            </a:extLst>
          </p:cNvPr>
          <p:cNvSpPr>
            <a:spLocks noGrp="1"/>
          </p:cNvSpPr>
          <p:nvPr/>
        </p:nvSpPr>
        <p:spPr>
          <a:xfrm>
            <a:off x="3276600" y="4314825"/>
            <a:ext cx="1847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D6A9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6A93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2B0FFA-01EF-474B-BC2D-9829FAF22A2E}"/>
              </a:ext>
            </a:extLst>
          </p:cNvPr>
          <p:cNvSpPr>
            <a:spLocks noGrp="1"/>
          </p:cNvSpPr>
          <p:nvPr/>
        </p:nvSpPr>
        <p:spPr>
          <a:xfrm>
            <a:off x="3276600" y="46863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climate predictors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6B1466-981A-414D-96C6-9DB529FC4EDE}"/>
              </a:ext>
            </a:extLst>
          </p:cNvPr>
          <p:cNvSpPr>
            <a:spLocks noGrp="1"/>
          </p:cNvSpPr>
          <p:nvPr/>
        </p:nvSpPr>
        <p:spPr>
          <a:xfrm>
            <a:off x="5524500" y="4171950"/>
            <a:ext cx="2571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8C0950-67E1-4C48-B76B-83F994A18E79}"/>
              </a:ext>
            </a:extLst>
          </p:cNvPr>
          <p:cNvSpPr>
            <a:spLocks noGrp="1"/>
          </p:cNvSpPr>
          <p:nvPr/>
        </p:nvSpPr>
        <p:spPr>
          <a:xfrm>
            <a:off x="5695950" y="4314825"/>
            <a:ext cx="2228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C455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4553D"/>
                </a:solidFill>
                <a:latin typeface="Aptos Display"/>
                <a:ea typeface="Aptos Display"/>
                <a:cs typeface="Aptos Display"/>
              </a:rPr>
              <a:t>263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448AB8-7E77-45F9-9E1F-04C68663B9C8}"/>
              </a:ext>
            </a:extLst>
          </p:cNvPr>
          <p:cNvSpPr>
            <a:spLocks noGrp="1"/>
          </p:cNvSpPr>
          <p:nvPr/>
        </p:nvSpPr>
        <p:spPr>
          <a:xfrm>
            <a:off x="5695950" y="4686300"/>
            <a:ext cx="2228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one-season-ahead rows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9944C3-6021-4761-A5C0-F8C592D25FD0}"/>
              </a:ext>
            </a:extLst>
          </p:cNvPr>
          <p:cNvSpPr>
            <a:spLocks noGrp="1"/>
          </p:cNvSpPr>
          <p:nvPr/>
        </p:nvSpPr>
        <p:spPr>
          <a:xfrm>
            <a:off x="8572500" y="1933575"/>
            <a:ext cx="2857500" cy="1962150"/>
          </a:xfrm>
          <a:prstGeom prst="rect">
            <a:avLst/>
          </a:prstGeom>
          <a:solidFill>
            <a:srgbClr val="E7F2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783585-B156-4278-9839-327C893F8DF5}"/>
              </a:ext>
            </a:extLst>
          </p:cNvPr>
          <p:cNvSpPr>
            <a:spLocks noGrp="1"/>
          </p:cNvSpPr>
          <p:nvPr/>
        </p:nvSpPr>
        <p:spPr>
          <a:xfrm>
            <a:off x="8877300" y="2352675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2F7C8C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A17F2A-2090-4ACF-BB4F-9F00DA7A0E3B}"/>
              </a:ext>
            </a:extLst>
          </p:cNvPr>
          <p:cNvSpPr>
            <a:spLocks noGrp="1"/>
          </p:cNvSpPr>
          <p:nvPr/>
        </p:nvSpPr>
        <p:spPr>
          <a:xfrm>
            <a:off x="8877300" y="2771447"/>
            <a:ext cx="22479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The signal is limited, but clearer for the West Coast. Warm test seasons are often underpredicted.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B161C5-69C5-4062-ADE8-769E1ED3F2A0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4387C2-7E81-4C40-A9AD-BEB97FF8FAF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91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D2A7879-A27C-4182-9D6A-48D7BB79B0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A1F57D-851C-4789-87F5-C8E8FEBD93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3FB11D-50AF-4415-891E-A04C230504E1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0CF515-7715-4AB2-A04E-1150988C831B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Prediction setup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4FE594-FF4B-4105-BD13-B0C30E5CB6B1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3DCD7B-F885-46CD-95B6-7C2F35DFBABA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We test a one-season-ahead prediction problem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67DD40-3EB5-43AC-B3E4-53C638D2B5E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858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same-season model would mostly describe co-movement. Here the predictors must carry information forward, so the question is harder.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D9CDBF-6052-4170-B015-62B97368AF03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2971800" cy="1314450"/>
          </a:xfrm>
          <a:prstGeom prst="rect">
            <a:avLst/>
          </a:prstGeom>
          <a:solidFill>
            <a:srgbClr val="E7F2F4"/>
          </a:solidFill>
          <a:ln w="9525">
            <a:solidFill>
              <a:srgbClr val="2F7C8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A77265-D56F-4A91-B774-9EB80695E8FA}"/>
              </a:ext>
            </a:extLst>
          </p:cNvPr>
          <p:cNvSpPr>
            <a:spLocks noGrp="1"/>
          </p:cNvSpPr>
          <p:nvPr/>
        </p:nvSpPr>
        <p:spPr>
          <a:xfrm>
            <a:off x="4619625" y="2886075"/>
            <a:ext cx="29718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CDE8AF-201A-401E-99D9-A46CF1EC3D08}"/>
              </a:ext>
            </a:extLst>
          </p:cNvPr>
          <p:cNvSpPr>
            <a:spLocks noGrp="1"/>
          </p:cNvSpPr>
          <p:nvPr/>
        </p:nvSpPr>
        <p:spPr>
          <a:xfrm>
            <a:off x="8420100" y="2952750"/>
            <a:ext cx="2971800" cy="1314450"/>
          </a:xfrm>
          <a:prstGeom prst="rect">
            <a:avLst/>
          </a:prstGeom>
          <a:solidFill>
            <a:srgbClr val="F8EAE6"/>
          </a:solidFill>
          <a:ln w="9525">
            <a:solidFill>
              <a:srgbClr val="C4553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F707B4-3A7A-4D6A-9F59-87B473905250}"/>
              </a:ext>
            </a:extLst>
          </p:cNvPr>
          <p:cNvSpPr>
            <a:spLocks noGrp="1"/>
          </p:cNvSpPr>
          <p:nvPr/>
        </p:nvSpPr>
        <p:spPr>
          <a:xfrm>
            <a:off x="1123950" y="31813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Current season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1EFAE0-81AA-4A3D-9FE0-52221F17BC1B}"/>
              </a:ext>
            </a:extLst>
          </p:cNvPr>
          <p:cNvSpPr>
            <a:spLocks noGrp="1"/>
          </p:cNvSpPr>
          <p:nvPr/>
        </p:nvSpPr>
        <p:spPr>
          <a:xfrm>
            <a:off x="1114425" y="3408636"/>
            <a:ext cx="2000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Nino 3.4</a:t>
            </a:r>
          </a:p>
          <a:p>
            <a:pPr algn="l">
              <a:buNone/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PDO</a:t>
            </a:r>
          </a:p>
          <a:p>
            <a:pPr algn="l">
              <a:buNone/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AO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C90A10-3DB3-4236-ADBD-BA5382C8934A}"/>
              </a:ext>
            </a:extLst>
          </p:cNvPr>
          <p:cNvSpPr>
            <a:spLocks noGrp="1"/>
          </p:cNvSpPr>
          <p:nvPr/>
        </p:nvSpPr>
        <p:spPr>
          <a:xfrm>
            <a:off x="4953000" y="327660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Lag by one season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3E094F-4F48-41A5-80E1-D54D657A0797}"/>
              </a:ext>
            </a:extLst>
          </p:cNvPr>
          <p:cNvSpPr>
            <a:spLocks noGrp="1"/>
          </p:cNvSpPr>
          <p:nvPr/>
        </p:nvSpPr>
        <p:spPr>
          <a:xfrm>
            <a:off x="4686464" y="3609975"/>
            <a:ext cx="2914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current predictors  -&gt;  next target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01C81D-6691-4DB5-A6E4-8E40FF66714C}"/>
              </a:ext>
            </a:extLst>
          </p:cNvPr>
          <p:cNvSpPr>
            <a:spLocks noGrp="1"/>
          </p:cNvSpPr>
          <p:nvPr/>
        </p:nvSpPr>
        <p:spPr>
          <a:xfrm>
            <a:off x="8743950" y="31813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C455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4553D"/>
                </a:solidFill>
                <a:latin typeface="Aptos"/>
                <a:ea typeface="Aptos"/>
                <a:cs typeface="Aptos"/>
              </a:rPr>
              <a:t>Next season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6AF8D9-CC97-4438-AB7C-3CD2CD9AC543}"/>
              </a:ext>
            </a:extLst>
          </p:cNvPr>
          <p:cNvSpPr>
            <a:spLocks noGrp="1"/>
          </p:cNvSpPr>
          <p:nvPr/>
        </p:nvSpPr>
        <p:spPr>
          <a:xfrm>
            <a:off x="8670378" y="3509141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West Coast temp anomaly</a:t>
            </a:r>
          </a:p>
          <a:p>
            <a:pPr algn="l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East Coast temp anomaly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69A67B-42B7-49E0-BD77-34F2DA0B065F}"/>
              </a:ext>
            </a:extLst>
          </p:cNvPr>
          <p:cNvSpPr>
            <a:spLocks noGrp="1"/>
          </p:cNvSpPr>
          <p:nvPr/>
        </p:nvSpPr>
        <p:spPr>
          <a:xfrm>
            <a:off x="1543050" y="4933950"/>
            <a:ext cx="899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The target is an anomaly, so we predict departures from each coast's normal seasonal pattern.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10F686-9E45-428E-AD6A-69DC3BCEF72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7AEC21-B341-468C-8AB5-2E563471C82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5611201"/>
      </p:ext>
    </p:extLst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961B5DC-EEB9-4E56-8B25-8EFAEF57C8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7882C0-593A-47F5-9937-5F1064CCD9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B211D6-09F9-4EAE-8BA6-23851F73AD57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27EFD0-312A-499B-ADB2-FC33D7CF30BD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EA8CD4-C003-46E1-9608-9860613F6E4F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TARGETS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785303-4A2B-47E3-813F-D4DF3A0AC0CB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The two coast boxes give comparable regional targets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D928BF-4F6F-442E-991C-7DFD593C5B22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695325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0132" y="1638300"/>
            <a:ext cx="6046486" cy="3429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84F6323-1E3F-4439-AB72-1D85F0E636FC}"/>
              </a:ext>
            </a:extLst>
          </p:cNvPr>
          <p:cNvSpPr>
            <a:spLocks noGrp="1"/>
          </p:cNvSpPr>
          <p:nvPr/>
        </p:nvSpPr>
        <p:spPr>
          <a:xfrm>
            <a:off x="7810500" y="1638300"/>
            <a:ext cx="3429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7D3674-6DE7-4BAF-8245-6E8BB0AC8555}"/>
              </a:ext>
            </a:extLst>
          </p:cNvPr>
          <p:cNvSpPr>
            <a:spLocks noGrp="1"/>
          </p:cNvSpPr>
          <p:nvPr/>
        </p:nvSpPr>
        <p:spPr>
          <a:xfrm>
            <a:off x="8115300" y="19240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Data used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74EDFC-2AC1-46DD-85EA-70E302365B4E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278130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ERA5 monthly 2m temperature</a:t>
            </a:r>
          </a:p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 x 1 degree grid, 1959-2024</a:t>
            </a:r>
          </a:p>
          <a:p>
            <a:endParaRPr sz="1125" b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Climate indices:</a:t>
            </a:r>
          </a:p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Nino 3.4, PDO, AO</a:t>
            </a:r>
          </a:p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endParaRPr sz="1125" b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Each season becomes one row.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D57293-5AC5-4D44-8C44-7B8493D11B1E}"/>
              </a:ext>
            </a:extLst>
          </p:cNvPr>
          <p:cNvSpPr>
            <a:spLocks noGrp="1"/>
          </p:cNvSpPr>
          <p:nvPr/>
        </p:nvSpPr>
        <p:spPr>
          <a:xfrm>
            <a:off x="8115300" y="4191000"/>
            <a:ext cx="2781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boxes are broad regional proxies, not exact land-only coastal masks.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63EA87-22FB-4369-8FFC-4BF5FDA37DEA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45EC61-1FB2-4B92-816A-831EED6453D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1751888"/>
      </p:ext>
    </p:extLst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E9A39FD-2A3C-479C-B72B-C3562B055C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889FDD-B932-4ED9-9830-ACE926C844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AF28BF-A4B0-40DC-A94D-5BC55D424FE0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8559BE-C14D-44B3-AFD7-D5E90866318E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Targets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B076F1-022A-4E2F-B0FA-FBC71671F010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2439ED-79E5-4ABA-96DD-DCA3A5A1DF90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Seasonal anomalies reveal a warmer held-out period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E64B8D-C637-4828-94E8-1BF16ED8A95C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78676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0889" y="1619250"/>
            <a:ext cx="7108872" cy="37338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7992967-671F-4A47-A321-CE434B82A30B}"/>
              </a:ext>
            </a:extLst>
          </p:cNvPr>
          <p:cNvSpPr>
            <a:spLocks noGrp="1"/>
          </p:cNvSpPr>
          <p:nvPr/>
        </p:nvSpPr>
        <p:spPr>
          <a:xfrm>
            <a:off x="8696325" y="1766887"/>
            <a:ext cx="323850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DF737F-34AD-437B-BC11-281CA58A3711}"/>
              </a:ext>
            </a:extLst>
          </p:cNvPr>
          <p:cNvSpPr>
            <a:spLocks noGrp="1"/>
          </p:cNvSpPr>
          <p:nvPr/>
        </p:nvSpPr>
        <p:spPr>
          <a:xfrm>
            <a:off x="8924925" y="2078831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Why anomalies?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0E5D16-8AD5-4D56-88FE-5BEDC4CA03B7}"/>
              </a:ext>
            </a:extLst>
          </p:cNvPr>
          <p:cNvSpPr>
            <a:spLocks noGrp="1"/>
          </p:cNvSpPr>
          <p:nvPr/>
        </p:nvSpPr>
        <p:spPr>
          <a:xfrm>
            <a:off x="8924925" y="2526506"/>
            <a:ext cx="26289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We remove each coast's usual seasonal mean.</a:t>
            </a:r>
          </a:p>
          <a:p>
            <a:endParaRPr sz="1125" b="0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This keeps winter and summer from being compared as raw temperatures.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E8732F-BC0E-4367-B568-0EFB01F58799}"/>
              </a:ext>
            </a:extLst>
          </p:cNvPr>
          <p:cNvSpPr>
            <a:spLocks noGrp="1"/>
          </p:cNvSpPr>
          <p:nvPr/>
        </p:nvSpPr>
        <p:spPr>
          <a:xfrm>
            <a:off x="9010650" y="3702433"/>
            <a:ext cx="2628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C4553D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C4553D"/>
                </a:solidFill>
                <a:latin typeface="Aptos"/>
                <a:ea typeface="Aptos"/>
                <a:cs typeface="Aptos"/>
              </a:rPr>
              <a:t>The test period has many warm anomalies, so it is a useful stress test.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C687F3-D5F5-4FC0-892D-92F0BBEDFC05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39DFBD-9D1E-4E06-BD6F-D746AF643DA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2094762"/>
      </p:ext>
    </p:extLst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3C49C910-D386-4A57-A571-4091373645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94B088-7E86-488D-A1B2-A1065EC66C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0DC9BC-A514-4D05-A81A-4E4EEEACA8D5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DD28BE-8B28-45B3-9358-413BA56238E5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Predictors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DBB7F5-6A42-4AFA-8D1A-AB43A4AA5400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CLIMATE INDICES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0A7591-38D2-4E21-A25A-2F1555E5620E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The predictors describe different parts of climate variability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4E041C-31CE-401E-88AA-BDB9F749E393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048000" cy="2343150"/>
          </a:xfrm>
          <a:prstGeom prst="rect">
            <a:avLst/>
          </a:prstGeom>
          <a:solidFill>
            <a:srgbClr val="E7F2F4"/>
          </a:solidFill>
          <a:ln w="9525">
            <a:solidFill>
              <a:srgbClr val="2F7C8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862145-DAB8-4F33-A9DD-A6B03765C93A}"/>
              </a:ext>
            </a:extLst>
          </p:cNvPr>
          <p:cNvSpPr>
            <a:spLocks noGrp="1"/>
          </p:cNvSpPr>
          <p:nvPr/>
        </p:nvSpPr>
        <p:spPr>
          <a:xfrm>
            <a:off x="1047750" y="240030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Nino 3.4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73C092-08DC-4C1A-AEFC-35A2BA394DF9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2286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Tropical Pacific SST anomalies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2A2F9C-47E7-4C2B-8108-D0824C16A942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Current-season mean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141C27-3F36-4C70-A20A-8D07CEC2E48A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048000" cy="2343150"/>
          </a:xfrm>
          <a:prstGeom prst="rect">
            <a:avLst/>
          </a:prstGeom>
          <a:solidFill>
            <a:srgbClr val="F7EBCB"/>
          </a:solidFill>
          <a:ln w="9525">
            <a:solidFill>
              <a:srgbClr val="D6A93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1FF5F3-528F-4B50-857F-86D708421362}"/>
              </a:ext>
            </a:extLst>
          </p:cNvPr>
          <p:cNvSpPr>
            <a:spLocks noGrp="1"/>
          </p:cNvSpPr>
          <p:nvPr/>
        </p:nvSpPr>
        <p:spPr>
          <a:xfrm>
            <a:off x="4648200" y="240030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D6A9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6A93D"/>
                </a:solidFill>
                <a:latin typeface="Aptos"/>
                <a:ea typeface="Aptos"/>
                <a:cs typeface="Aptos"/>
              </a:rPr>
              <a:t>PDO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640B53-8C61-456E-8BD9-90EE9C4D52CE}"/>
              </a:ext>
            </a:extLst>
          </p:cNvPr>
          <p:cNvSpPr>
            <a:spLocks noGrp="1"/>
          </p:cNvSpPr>
          <p:nvPr/>
        </p:nvSpPr>
        <p:spPr>
          <a:xfrm>
            <a:off x="4648200" y="3000375"/>
            <a:ext cx="2286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North Pacific sea-surface pattern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8926F2-FC87-497B-9FD9-C5F1D0ED7D16}"/>
              </a:ext>
            </a:extLst>
          </p:cNvPr>
          <p:cNvSpPr>
            <a:spLocks noGrp="1"/>
          </p:cNvSpPr>
          <p:nvPr/>
        </p:nvSpPr>
        <p:spPr>
          <a:xfrm>
            <a:off x="4648200" y="390525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Current-season mean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09431C-1934-4351-9331-93BE0009201D}"/>
              </a:ext>
            </a:extLst>
          </p:cNvPr>
          <p:cNvSpPr>
            <a:spLocks noGrp="1"/>
          </p:cNvSpPr>
          <p:nvPr/>
        </p:nvSpPr>
        <p:spPr>
          <a:xfrm>
            <a:off x="7981950" y="2095500"/>
            <a:ext cx="3048000" cy="2343150"/>
          </a:xfrm>
          <a:prstGeom prst="rect">
            <a:avLst/>
          </a:prstGeom>
          <a:solidFill>
            <a:srgbClr val="F8EAE6"/>
          </a:solidFill>
          <a:ln w="9525">
            <a:solidFill>
              <a:srgbClr val="C4553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38C428-BC19-447C-815B-C3E5FC9B5263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C455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4553D"/>
                </a:solidFill>
                <a:latin typeface="Aptos"/>
                <a:ea typeface="Aptos"/>
                <a:cs typeface="Aptos"/>
              </a:rPr>
              <a:t>AO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51ED3C-CFB7-48AD-B3C7-302A112B0E43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2286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Northern Hemisphere circulation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AE424A-360C-4AE3-BB1F-27C7E08707D7}"/>
              </a:ext>
            </a:extLst>
          </p:cNvPr>
          <p:cNvSpPr>
            <a:spLocks noGrp="1"/>
          </p:cNvSpPr>
          <p:nvPr/>
        </p:nvSpPr>
        <p:spPr>
          <a:xfrm>
            <a:off x="8248650" y="390525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Current-season mean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5E2625-505A-4501-8F2B-74830EDA710E}"/>
              </a:ext>
            </a:extLst>
          </p:cNvPr>
          <p:cNvSpPr>
            <a:spLocks noGrp="1"/>
          </p:cNvSpPr>
          <p:nvPr/>
        </p:nvSpPr>
        <p:spPr>
          <a:xfrm>
            <a:off x="1271752" y="5010150"/>
            <a:ext cx="9511862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All three predictors use seasonal means. We keep the timing aligned with the temperature targets.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8792AB-2AD2-433E-A2B8-F0768CF6C4B2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1C0E86-1BBB-478F-81BB-43761A10587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311917"/>
      </p:ext>
    </p:extLst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A4F548A6-A777-4980-B8F8-6C5A5AFB7E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3768F5-4478-4B2C-864A-945CB92C03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35CCBF-7E4C-49D1-9FCB-B3F1BA8B42AE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740724-6E59-4F12-992C-675C8B20D8A8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96F5D0-1AEC-4301-94DD-D7CE90C4FB88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6C2C1F-AB9C-4679-8820-51AC8EF93A3B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The models stay simple so the comparison is clear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4DD408-6F53-4A31-8D99-571416FAB420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2669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76339E-6B46-4093-9EEC-2E61E9A9C4B9}"/>
              </a:ext>
            </a:extLst>
          </p:cNvPr>
          <p:cNvSpPr>
            <a:spLocks noGrp="1"/>
          </p:cNvSpPr>
          <p:nvPr/>
        </p:nvSpPr>
        <p:spPr>
          <a:xfrm>
            <a:off x="971550" y="22479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AE7024-40D2-40E5-883F-3EE6F29D8CB2}"/>
              </a:ext>
            </a:extLst>
          </p:cNvPr>
          <p:cNvSpPr>
            <a:spLocks noGrp="1"/>
          </p:cNvSpPr>
          <p:nvPr/>
        </p:nvSpPr>
        <p:spPr>
          <a:xfrm>
            <a:off x="971550" y="26479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mean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5E069B-0FE8-42DB-886C-352ECEF88903}"/>
              </a:ext>
            </a:extLst>
          </p:cNvPr>
          <p:cNvSpPr>
            <a:spLocks noGrp="1"/>
          </p:cNvSpPr>
          <p:nvPr/>
        </p:nvSpPr>
        <p:spPr>
          <a:xfrm>
            <a:off x="3448050" y="2000250"/>
            <a:ext cx="22669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04912D-EB77-4140-BDCF-0E8B8AB1AB7E}"/>
              </a:ext>
            </a:extLst>
          </p:cNvPr>
          <p:cNvSpPr>
            <a:spLocks noGrp="1"/>
          </p:cNvSpPr>
          <p:nvPr/>
        </p:nvSpPr>
        <p:spPr>
          <a:xfrm>
            <a:off x="3638550" y="22479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Nino-only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EC8875-C948-40BA-8E94-4F1E35704AB9}"/>
              </a:ext>
            </a:extLst>
          </p:cNvPr>
          <p:cNvSpPr>
            <a:spLocks noGrp="1"/>
          </p:cNvSpPr>
          <p:nvPr/>
        </p:nvSpPr>
        <p:spPr>
          <a:xfrm>
            <a:off x="3638550" y="26479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Nino 3.4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E1E31B-1D07-429C-9475-16C0F192A2D3}"/>
              </a:ext>
            </a:extLst>
          </p:cNvPr>
          <p:cNvSpPr>
            <a:spLocks noGrp="1"/>
          </p:cNvSpPr>
          <p:nvPr/>
        </p:nvSpPr>
        <p:spPr>
          <a:xfrm>
            <a:off x="6115050" y="2000250"/>
            <a:ext cx="22669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8A5B29-0189-4E51-8EFC-7BF329C39D7F}"/>
              </a:ext>
            </a:extLst>
          </p:cNvPr>
          <p:cNvSpPr>
            <a:spLocks noGrp="1"/>
          </p:cNvSpPr>
          <p:nvPr/>
        </p:nvSpPr>
        <p:spPr>
          <a:xfrm>
            <a:off x="6305550" y="22479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Nino + PDO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2A3DF5-C5E1-43A3-86C1-946C0189A0ED}"/>
              </a:ext>
            </a:extLst>
          </p:cNvPr>
          <p:cNvSpPr>
            <a:spLocks noGrp="1"/>
          </p:cNvSpPr>
          <p:nvPr/>
        </p:nvSpPr>
        <p:spPr>
          <a:xfrm>
            <a:off x="6305550" y="26479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Nino 3.4, PDO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82053F-3724-4A5B-97EA-FC4253C7BF72}"/>
              </a:ext>
            </a:extLst>
          </p:cNvPr>
          <p:cNvSpPr>
            <a:spLocks noGrp="1"/>
          </p:cNvSpPr>
          <p:nvPr/>
        </p:nvSpPr>
        <p:spPr>
          <a:xfrm>
            <a:off x="8782050" y="2000250"/>
            <a:ext cx="2266950" cy="1257300"/>
          </a:xfrm>
          <a:prstGeom prst="rect">
            <a:avLst/>
          </a:prstGeom>
          <a:solidFill>
            <a:srgbClr val="E7F2F4"/>
          </a:solidFill>
          <a:ln w="9525">
            <a:solidFill>
              <a:srgbClr val="2F7C8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356A69-F14F-4BBE-8445-0FF4D7BEE88C}"/>
              </a:ext>
            </a:extLst>
          </p:cNvPr>
          <p:cNvSpPr>
            <a:spLocks noGrp="1"/>
          </p:cNvSpPr>
          <p:nvPr/>
        </p:nvSpPr>
        <p:spPr>
          <a:xfrm>
            <a:off x="8972550" y="22479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Full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701124-C004-4C4D-A183-BB6CA11C8EC2}"/>
              </a:ext>
            </a:extLst>
          </p:cNvPr>
          <p:cNvSpPr>
            <a:spLocks noGrp="1"/>
          </p:cNvSpPr>
          <p:nvPr/>
        </p:nvSpPr>
        <p:spPr>
          <a:xfrm>
            <a:off x="8972550" y="26479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Nino 3.4, PDO, AO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F6B49A-67E2-4079-A20C-B5E82167115D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962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A4CDCA-1400-419E-88EB-0817B8C9EEA4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Time-ordered split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1EE527-06AF-423B-9178-F05E2814101C}"/>
              </a:ext>
            </a:extLst>
          </p:cNvPr>
          <p:cNvSpPr>
            <a:spLocks noGrp="1"/>
          </p:cNvSpPr>
          <p:nvPr/>
        </p:nvSpPr>
        <p:spPr>
          <a:xfrm>
            <a:off x="3848100" y="4438650"/>
            <a:ext cx="4591050" cy="228600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6FB2B1-536D-4E97-B06A-D22932116719}"/>
              </a:ext>
            </a:extLst>
          </p:cNvPr>
          <p:cNvSpPr>
            <a:spLocks noGrp="1"/>
          </p:cNvSpPr>
          <p:nvPr/>
        </p:nvSpPr>
        <p:spPr>
          <a:xfrm>
            <a:off x="8439150" y="4438650"/>
            <a:ext cx="1466850" cy="228600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222565-79FE-4142-931C-A9B47EC684ED}"/>
              </a:ext>
            </a:extLst>
          </p:cNvPr>
          <p:cNvSpPr>
            <a:spLocks noGrp="1"/>
          </p:cNvSpPr>
          <p:nvPr/>
        </p:nvSpPr>
        <p:spPr>
          <a:xfrm>
            <a:off x="4838700" y="46482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F7C8C"/>
                </a:solidFill>
                <a:latin typeface="Aptos"/>
                <a:ea typeface="Aptos"/>
                <a:cs typeface="Aptos"/>
              </a:rPr>
              <a:t>Train: 210 rows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2AFB1F-EF2C-4E2A-A600-91A3647B7508}"/>
              </a:ext>
            </a:extLst>
          </p:cNvPr>
          <p:cNvSpPr>
            <a:spLocks noGrp="1"/>
          </p:cNvSpPr>
          <p:nvPr/>
        </p:nvSpPr>
        <p:spPr>
          <a:xfrm>
            <a:off x="8210550" y="46482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>
                <a:solidFill>
                  <a:srgbClr val="C455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4553D"/>
                </a:solidFill>
                <a:latin typeface="Aptos"/>
                <a:ea typeface="Aptos"/>
                <a:cs typeface="Aptos"/>
              </a:rPr>
              <a:t>Test: 53 rows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CD9D7EB-E0CF-4B64-9A2C-FBEB8863CAF7}"/>
              </a:ext>
            </a:extLst>
          </p:cNvPr>
          <p:cNvSpPr>
            <a:spLocks noGrp="1"/>
          </p:cNvSpPr>
          <p:nvPr/>
        </p:nvSpPr>
        <p:spPr>
          <a:xfrm>
            <a:off x="1352550" y="46672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1959 MAM to 2024 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BBD098-9B31-488E-BC42-40D810EB3E19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8288EA-7141-4269-B867-D66D09629A3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782A7D9-D4FF-4CEB-B297-F4CC043E5C1C}"/>
              </a:ext>
            </a:extLst>
          </p:cNvPr>
          <p:cNvSpPr>
            <a:spLocks noGrp="1"/>
          </p:cNvSpPr>
          <p:nvPr/>
        </p:nvSpPr>
        <p:spPr>
          <a:xfrm>
            <a:off x="1352550" y="5181600"/>
            <a:ext cx="838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We fit the same four models for both coasts. This keeps the focus on timing and regional differences.</a:t>
            </a:r>
          </a:p>
        </p:txBody>
      </p:sp>
    </p:spTree>
    <p:extLst>
      <p:ext uri="{BB962C8B-B14F-4D97-AF65-F5344CB8AC3E}">
        <p14:creationId xmlns:p14="http://schemas.microsoft.com/office/powerpoint/2010/main" val="708510113"/>
      </p:ext>
    </p:extLst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0D535F1E-5D2D-4FB1-9A87-F6396E8A68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B9A97F-F00E-4680-A33C-12E6498D71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E00668-F8AB-4536-8D07-B9FD457FB63C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6CE548-2A1B-4A09-8234-2145EB9247C8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Regression checks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627E4C-3E6C-4246-B0CE-DAF98939B07D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COLLINEARITY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629E12-93CD-420D-8277-D4353A3286B3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Predictors are related, but collinearity is not severe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59D2AA-B62F-4550-ABCD-A15BDF68D257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57150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3651" y="1562100"/>
            <a:ext cx="4768798" cy="40195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8BBD9ED-246F-405D-A3E2-0B7721B51BC5}"/>
              </a:ext>
            </a:extLst>
          </p:cNvPr>
          <p:cNvSpPr>
            <a:spLocks noGrp="1"/>
          </p:cNvSpPr>
          <p:nvPr/>
        </p:nvSpPr>
        <p:spPr>
          <a:xfrm>
            <a:off x="6934200" y="16383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Variance inflation factors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4FBE67-A37C-4D4F-9702-F8838C8444AF}"/>
              </a:ext>
            </a:extLst>
          </p:cNvPr>
          <p:cNvSpPr>
            <a:spLocks noGrp="1"/>
          </p:cNvSpPr>
          <p:nvPr/>
        </p:nvSpPr>
        <p:spPr>
          <a:xfrm>
            <a:off x="6896100" y="2114550"/>
            <a:ext cx="3048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9F6804-5D42-48E1-B64C-BC4FED46F6E6}"/>
              </a:ext>
            </a:extLst>
          </p:cNvPr>
          <p:cNvSpPr>
            <a:spLocks noGrp="1"/>
          </p:cNvSpPr>
          <p:nvPr/>
        </p:nvSpPr>
        <p:spPr>
          <a:xfrm>
            <a:off x="6896100" y="2114550"/>
            <a:ext cx="2095500" cy="400050"/>
          </a:xfrm>
          <a:prstGeom prst="rect">
            <a:avLst/>
          </a:prstGeom>
          <a:solidFill>
            <a:srgbClr val="E7F2F4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30B004-08A4-4AF8-AD81-823701C7D82A}"/>
              </a:ext>
            </a:extLst>
          </p:cNvPr>
          <p:cNvSpPr>
            <a:spLocks noGrp="1"/>
          </p:cNvSpPr>
          <p:nvPr/>
        </p:nvSpPr>
        <p:spPr>
          <a:xfrm>
            <a:off x="6972300" y="2190750"/>
            <a:ext cx="194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Predictor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A96911-44CA-40D4-8D30-3D5933837B44}"/>
              </a:ext>
            </a:extLst>
          </p:cNvPr>
          <p:cNvSpPr>
            <a:spLocks noGrp="1"/>
          </p:cNvSpPr>
          <p:nvPr/>
        </p:nvSpPr>
        <p:spPr>
          <a:xfrm>
            <a:off x="8991600" y="2114550"/>
            <a:ext cx="952500" cy="400050"/>
          </a:xfrm>
          <a:prstGeom prst="rect">
            <a:avLst/>
          </a:prstGeom>
          <a:solidFill>
            <a:srgbClr val="E7F2F4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466C6B-2F98-4B28-8DBE-04584F8DD35A}"/>
              </a:ext>
            </a:extLst>
          </p:cNvPr>
          <p:cNvSpPr>
            <a:spLocks noGrp="1"/>
          </p:cNvSpPr>
          <p:nvPr/>
        </p:nvSpPr>
        <p:spPr>
          <a:xfrm>
            <a:off x="9067800" y="21907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VIF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658CF6-09A3-4B78-996E-AF2C352CFC7D}"/>
              </a:ext>
            </a:extLst>
          </p:cNvPr>
          <p:cNvSpPr>
            <a:spLocks noGrp="1"/>
          </p:cNvSpPr>
          <p:nvPr/>
        </p:nvSpPr>
        <p:spPr>
          <a:xfrm>
            <a:off x="6896100" y="2514600"/>
            <a:ext cx="2095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FA91D1-CE6A-497D-869A-C7DB533E67CD}"/>
              </a:ext>
            </a:extLst>
          </p:cNvPr>
          <p:cNvSpPr>
            <a:spLocks noGrp="1"/>
          </p:cNvSpPr>
          <p:nvPr/>
        </p:nvSpPr>
        <p:spPr>
          <a:xfrm>
            <a:off x="6972300" y="2590800"/>
            <a:ext cx="194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Nino 3.4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A8AEDE-4F83-4E9F-9EED-E0ED3723FECF}"/>
              </a:ext>
            </a:extLst>
          </p:cNvPr>
          <p:cNvSpPr>
            <a:spLocks noGrp="1"/>
          </p:cNvSpPr>
          <p:nvPr/>
        </p:nvSpPr>
        <p:spPr>
          <a:xfrm>
            <a:off x="8991600" y="2514600"/>
            <a:ext cx="952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F96C6C-32FD-4AE3-9EEF-7ACCC5BC41DA}"/>
              </a:ext>
            </a:extLst>
          </p:cNvPr>
          <p:cNvSpPr>
            <a:spLocks noGrp="1"/>
          </p:cNvSpPr>
          <p:nvPr/>
        </p:nvSpPr>
        <p:spPr>
          <a:xfrm>
            <a:off x="9067800" y="25908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1.18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C5ADD3-6E08-4AF8-B402-4D53E2B2AE51}"/>
              </a:ext>
            </a:extLst>
          </p:cNvPr>
          <p:cNvSpPr>
            <a:spLocks noGrp="1"/>
          </p:cNvSpPr>
          <p:nvPr/>
        </p:nvSpPr>
        <p:spPr>
          <a:xfrm>
            <a:off x="6896100" y="2914650"/>
            <a:ext cx="2095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A64391-A7AE-4A2B-BC71-B3A52332E22E}"/>
              </a:ext>
            </a:extLst>
          </p:cNvPr>
          <p:cNvSpPr>
            <a:spLocks noGrp="1"/>
          </p:cNvSpPr>
          <p:nvPr/>
        </p:nvSpPr>
        <p:spPr>
          <a:xfrm>
            <a:off x="6972300" y="2990850"/>
            <a:ext cx="194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PDO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BDF0324-829B-4FA3-AB80-836304B349DA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952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B8DAB4-8A0E-4AEA-9F85-F7F08336FE39}"/>
              </a:ext>
            </a:extLst>
          </p:cNvPr>
          <p:cNvSpPr>
            <a:spLocks noGrp="1"/>
          </p:cNvSpPr>
          <p:nvPr/>
        </p:nvSpPr>
        <p:spPr>
          <a:xfrm>
            <a:off x="9067800" y="29908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1.25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5A2A63E-D2AB-483D-BFA2-87835D38A742}"/>
              </a:ext>
            </a:extLst>
          </p:cNvPr>
          <p:cNvSpPr>
            <a:spLocks noGrp="1"/>
          </p:cNvSpPr>
          <p:nvPr/>
        </p:nvSpPr>
        <p:spPr>
          <a:xfrm>
            <a:off x="6896100" y="3314700"/>
            <a:ext cx="2095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2D68BA9-6BD9-406A-8BCF-11073EE5C92D}"/>
              </a:ext>
            </a:extLst>
          </p:cNvPr>
          <p:cNvSpPr>
            <a:spLocks noGrp="1"/>
          </p:cNvSpPr>
          <p:nvPr/>
        </p:nvSpPr>
        <p:spPr>
          <a:xfrm>
            <a:off x="6972300" y="3390900"/>
            <a:ext cx="194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AO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F3041B-58D3-4FE5-8783-4ED766FCA084}"/>
              </a:ext>
            </a:extLst>
          </p:cNvPr>
          <p:cNvSpPr>
            <a:spLocks noGrp="1"/>
          </p:cNvSpPr>
          <p:nvPr/>
        </p:nvSpPr>
        <p:spPr>
          <a:xfrm>
            <a:off x="8991600" y="3314700"/>
            <a:ext cx="952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A5B998-0A6F-4717-B13F-53FEA73F1548}"/>
              </a:ext>
            </a:extLst>
          </p:cNvPr>
          <p:cNvSpPr>
            <a:spLocks noGrp="1"/>
          </p:cNvSpPr>
          <p:nvPr/>
        </p:nvSpPr>
        <p:spPr>
          <a:xfrm>
            <a:off x="9067800" y="33909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1.07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8CE3DB-7E05-4E4F-BB81-1066514AF822}"/>
              </a:ext>
            </a:extLst>
          </p:cNvPr>
          <p:cNvSpPr>
            <a:spLocks noGrp="1"/>
          </p:cNvSpPr>
          <p:nvPr/>
        </p:nvSpPr>
        <p:spPr>
          <a:xfrm>
            <a:off x="6896100" y="4191000"/>
            <a:ext cx="3714750" cy="914400"/>
          </a:xfrm>
          <a:prstGeom prst="rect">
            <a:avLst/>
          </a:prstGeom>
          <a:solidFill>
            <a:srgbClr val="F7EBCB"/>
          </a:solidFill>
          <a:ln w="9525">
            <a:solidFill>
              <a:srgbClr val="D6A93D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C986C7-F2BB-4398-916B-986D61945569}"/>
              </a:ext>
            </a:extLst>
          </p:cNvPr>
          <p:cNvSpPr>
            <a:spLocks noGrp="1"/>
          </p:cNvSpPr>
          <p:nvPr/>
        </p:nvSpPr>
        <p:spPr>
          <a:xfrm>
            <a:off x="7143750" y="4400550"/>
            <a:ext cx="3219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VIF is close to 1 for every predictor, so collinearity is low.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E02591-585D-4C96-B09A-3BEB5F6A9E7A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DF26DE0-B594-4A86-B973-907BEF48C59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2027815"/>
      </p:ext>
    </p:extLst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2E0B6D-F80C-4FBF-8CB8-B213ED2F94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87007-F7FF-47B6-9D56-31CD83C167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D88702-2E4F-463D-8F39-7E42A6C29E5F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52D03A-C4CC-4E44-A806-2802A3B7FF97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Out-of-sample results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8CC763-9713-4A6D-84CF-E3C8CD53200F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MODEL SKILL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AFCA8-BB73-4A83-BDF8-50DD5859DB3E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Out-of-sample prediction skill is limited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0101EB-DB56-4992-AC82-8DA49A6E9F4D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6950" y="1600200"/>
            <a:ext cx="6367100" cy="38290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897DDD0-ED2E-4BE1-A7E7-528E5E3C8958}"/>
              </a:ext>
            </a:extLst>
          </p:cNvPr>
          <p:cNvSpPr>
            <a:spLocks noGrp="1"/>
          </p:cNvSpPr>
          <p:nvPr/>
        </p:nvSpPr>
        <p:spPr>
          <a:xfrm>
            <a:off x="7620000" y="1695450"/>
            <a:ext cx="35242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BCA086-3B85-4267-9062-F4735B0D68BD}"/>
              </a:ext>
            </a:extLst>
          </p:cNvPr>
          <p:cNvSpPr>
            <a:spLocks noGrp="1"/>
          </p:cNvSpPr>
          <p:nvPr/>
        </p:nvSpPr>
        <p:spPr>
          <a:xfrm>
            <a:off x="7905750" y="19240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Full-model RMSE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FC98DA-1A11-4BFC-90FA-A991F97BFA47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1285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1.115 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A8A039-52CD-44EF-85CB-7B37052B013A}"/>
              </a:ext>
            </a:extLst>
          </p:cNvPr>
          <p:cNvSpPr>
            <a:spLocks noGrp="1"/>
          </p:cNvSpPr>
          <p:nvPr/>
        </p:nvSpPr>
        <p:spPr>
          <a:xfrm>
            <a:off x="9486900" y="2266950"/>
            <a:ext cx="1285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1">
                <a:solidFill>
                  <a:srgbClr val="C455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4553D"/>
                </a:solidFill>
                <a:latin typeface="Aptos"/>
                <a:ea typeface="Aptos"/>
                <a:cs typeface="Aptos"/>
              </a:rPr>
              <a:t>1.026 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358F6D-8E28-479D-A6E2-DA9F5E548098}"/>
              </a:ext>
            </a:extLst>
          </p:cNvPr>
          <p:cNvSpPr>
            <a:spLocks noGrp="1"/>
          </p:cNvSpPr>
          <p:nvPr/>
        </p:nvSpPr>
        <p:spPr>
          <a:xfrm>
            <a:off x="7620000" y="3143250"/>
            <a:ext cx="3524250" cy="1524000"/>
          </a:xfrm>
          <a:prstGeom prst="rect">
            <a:avLst/>
          </a:prstGeom>
          <a:solidFill>
            <a:srgbClr val="F8EAE6"/>
          </a:solidFill>
          <a:ln w="9525">
            <a:solidFill>
              <a:srgbClr val="C4553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59A132-FEF9-4DD2-9B88-7EEB84ECBED3}"/>
              </a:ext>
            </a:extLst>
          </p:cNvPr>
          <p:cNvSpPr>
            <a:spLocks noGrp="1"/>
          </p:cNvSpPr>
          <p:nvPr/>
        </p:nvSpPr>
        <p:spPr>
          <a:xfrm>
            <a:off x="7905750" y="3390900"/>
            <a:ext cx="2952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Test R2 is negative for both coasts: -1.629 west, -2.625 east.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2EDAB9-8B52-479C-AFAD-6F249AC5151C}"/>
              </a:ext>
            </a:extLst>
          </p:cNvPr>
          <p:cNvSpPr>
            <a:spLocks noGrp="1"/>
          </p:cNvSpPr>
          <p:nvPr/>
        </p:nvSpPr>
        <p:spPr>
          <a:xfrm>
            <a:off x="7905750" y="405765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indices add some signal, but the held-out forecast is still weak.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5C5EC9-11CC-4A5A-82D9-306234C0AD49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B590CE-F973-4CF9-8D49-2552F57EE7F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801327"/>
      </p:ext>
    </p:extLst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37FEA0E-8B2D-45F3-AB68-0D0EDEF7B4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68CFEA-0899-4DEA-B7DF-6A7E63F829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69337F-7435-4FB2-A9D8-F0197D89C37A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C98C4A-4E8C-468F-AD44-8064C99D4BE5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Regional interpretation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33AB01-A0F7-40A7-8A58-F329C1E8C3B8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REGIONAL CONTRAST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8C05F-5CF7-4F9F-BB7C-E75205508F74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The West Coast signal is clearer than the East Coast signal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782533-43BB-4549-838D-8B7D6BA051BA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68961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2229" y="1600200"/>
            <a:ext cx="6416543" cy="38290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C5E0CBD-4733-4F69-9047-7273ED88C37C}"/>
              </a:ext>
            </a:extLst>
          </p:cNvPr>
          <p:cNvSpPr>
            <a:spLocks noGrp="1"/>
          </p:cNvSpPr>
          <p:nvPr/>
        </p:nvSpPr>
        <p:spPr>
          <a:xfrm>
            <a:off x="7620000" y="1695450"/>
            <a:ext cx="3524250" cy="1143000"/>
          </a:xfrm>
          <a:prstGeom prst="rect">
            <a:avLst/>
          </a:prstGeom>
          <a:solidFill>
            <a:srgbClr val="E7F2F4"/>
          </a:solidFill>
          <a:ln w="9525">
            <a:solidFill>
              <a:srgbClr val="2F7C8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B14DA0-6358-4508-AA44-2C508793991C}"/>
              </a:ext>
            </a:extLst>
          </p:cNvPr>
          <p:cNvSpPr>
            <a:spLocks noGrp="1"/>
          </p:cNvSpPr>
          <p:nvPr/>
        </p:nvSpPr>
        <p:spPr>
          <a:xfrm>
            <a:off x="7905750" y="19240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Test correlation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0A6B30-F3F0-4F4C-8EB8-8A4F38A810A2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1285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0.363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208FE2-A1C2-4CFC-8A75-B785B0ECC615}"/>
              </a:ext>
            </a:extLst>
          </p:cNvPr>
          <p:cNvSpPr>
            <a:spLocks noGrp="1"/>
          </p:cNvSpPr>
          <p:nvPr/>
        </p:nvSpPr>
        <p:spPr>
          <a:xfrm>
            <a:off x="9525000" y="23431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West Coast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839C9E-0079-4BB4-8402-43E780A62536}"/>
              </a:ext>
            </a:extLst>
          </p:cNvPr>
          <p:cNvSpPr>
            <a:spLocks noGrp="1"/>
          </p:cNvSpPr>
          <p:nvPr/>
        </p:nvSpPr>
        <p:spPr>
          <a:xfrm>
            <a:off x="7620000" y="3086100"/>
            <a:ext cx="3524250" cy="1143000"/>
          </a:xfrm>
          <a:prstGeom prst="rect">
            <a:avLst/>
          </a:prstGeom>
          <a:solidFill>
            <a:srgbClr val="F8EAE6"/>
          </a:solidFill>
          <a:ln w="9525">
            <a:solidFill>
              <a:srgbClr val="C4553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1A86ED-2E57-448F-8AD9-55C1949D3F34}"/>
              </a:ext>
            </a:extLst>
          </p:cNvPr>
          <p:cNvSpPr>
            <a:spLocks noGrp="1"/>
          </p:cNvSpPr>
          <p:nvPr/>
        </p:nvSpPr>
        <p:spPr>
          <a:xfrm>
            <a:off x="7905750" y="3505200"/>
            <a:ext cx="1285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C455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4553D"/>
                </a:solidFill>
                <a:latin typeface="Aptos"/>
                <a:ea typeface="Aptos"/>
                <a:cs typeface="Aptos"/>
              </a:rPr>
              <a:t>0.265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8C5BA9-BEF7-43DF-A948-F2FB27BB1A78}"/>
              </a:ext>
            </a:extLst>
          </p:cNvPr>
          <p:cNvSpPr>
            <a:spLocks noGrp="1"/>
          </p:cNvSpPr>
          <p:nvPr/>
        </p:nvSpPr>
        <p:spPr>
          <a:xfrm>
            <a:off x="9525000" y="3581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East Coast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371691-16EC-45A9-ADEA-84CA8EEC4143}"/>
              </a:ext>
            </a:extLst>
          </p:cNvPr>
          <p:cNvSpPr>
            <a:spLocks noGrp="1"/>
          </p:cNvSpPr>
          <p:nvPr/>
        </p:nvSpPr>
        <p:spPr>
          <a:xfrm>
            <a:off x="7715250" y="4572000"/>
            <a:ext cx="3333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The West Coast keeps a clearer Nino 3.4 signal, matching its closer link to the Pacific.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B839B1-977B-41A8-80DA-B58620FCD58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76F6175-611A-4443-A763-55DDC3C3D49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79429950"/>
      </p:ext>
    </p:extLst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F909240-6DF3-44C0-83D7-7BD43E67DD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AD659E-6372-40AF-BB39-051CDD7164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F7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F2DC76-72FD-432F-A1AD-8060A7726EE0}"/>
              </a:ext>
            </a:extLst>
          </p:cNvPr>
          <p:cNvSpPr>
            <a:spLocks noGrp="1"/>
          </p:cNvSpPr>
          <p:nvPr/>
        </p:nvSpPr>
        <p:spPr>
          <a:xfrm>
            <a:off x="0" y="6772275"/>
            <a:ext cx="12192000" cy="85725"/>
          </a:xfrm>
          <a:prstGeom prst="rect">
            <a:avLst/>
          </a:prstGeom>
          <a:solidFill>
            <a:srgbClr val="C4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CA5B2D-FF8C-4632-8922-D96079525572}"/>
              </a:ext>
            </a:extLst>
          </p:cNvPr>
          <p:cNvSpPr>
            <a:spLocks noGrp="1"/>
          </p:cNvSpPr>
          <p:nvPr/>
        </p:nvSpPr>
        <p:spPr>
          <a:xfrm>
            <a:off x="628650" y="62484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E8BC32-FC1A-440B-A846-852F02EB42CB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RESIDUALS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CB5284-5E17-4B7F-85F2-1ED24A0B4A99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The model misses many warm test-period anomalies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6402AB-927D-43F2-85C2-827F68EB7936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7524750" cy="3867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604007"/>
            <a:ext cx="7219950" cy="351663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5407302-B9DC-44E9-BA67-450CC063FD5B}"/>
              </a:ext>
            </a:extLst>
          </p:cNvPr>
          <p:cNvSpPr>
            <a:spLocks noGrp="1"/>
          </p:cNvSpPr>
          <p:nvPr/>
        </p:nvSpPr>
        <p:spPr>
          <a:xfrm>
            <a:off x="8191500" y="1676400"/>
            <a:ext cx="32385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ADD949-741B-4C73-ADFF-2A2853F19E01}"/>
              </a:ext>
            </a:extLst>
          </p:cNvPr>
          <p:cNvSpPr>
            <a:spLocks noGrp="1"/>
          </p:cNvSpPr>
          <p:nvPr/>
        </p:nvSpPr>
        <p:spPr>
          <a:xfrm>
            <a:off x="8477250" y="19240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Mean residual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10C8CD-05D5-410B-BD97-91FB0A9DF7E2}"/>
              </a:ext>
            </a:extLst>
          </p:cNvPr>
          <p:cNvSpPr>
            <a:spLocks noGrp="1"/>
          </p:cNvSpPr>
          <p:nvPr/>
        </p:nvSpPr>
        <p:spPr>
          <a:xfrm>
            <a:off x="8477250" y="22669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2F7C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7C8C"/>
                </a:solidFill>
                <a:latin typeface="Aptos"/>
                <a:ea typeface="Aptos"/>
                <a:cs typeface="Aptos"/>
              </a:rPr>
              <a:t>+0.912 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971F1E-9132-4D16-A462-6A2CC78A4049}"/>
              </a:ext>
            </a:extLst>
          </p:cNvPr>
          <p:cNvSpPr>
            <a:spLocks noGrp="1"/>
          </p:cNvSpPr>
          <p:nvPr/>
        </p:nvSpPr>
        <p:spPr>
          <a:xfrm>
            <a:off x="8477250" y="26670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C455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4553D"/>
                </a:solidFill>
                <a:latin typeface="Aptos"/>
                <a:ea typeface="Aptos"/>
                <a:cs typeface="Aptos"/>
              </a:rPr>
              <a:t>+0.884 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22D74D-40AF-4941-A823-FF70A8C80B86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3238500" cy="1428750"/>
          </a:xfrm>
          <a:prstGeom prst="rect">
            <a:avLst/>
          </a:prstGeom>
          <a:solidFill>
            <a:srgbClr val="F7EBCB"/>
          </a:solidFill>
          <a:ln w="9525">
            <a:solidFill>
              <a:srgbClr val="D6A93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DFE9C2-B9FE-4950-A852-861632A62D2F}"/>
              </a:ext>
            </a:extLst>
          </p:cNvPr>
          <p:cNvSpPr>
            <a:spLocks noGrp="1"/>
          </p:cNvSpPr>
          <p:nvPr/>
        </p:nvSpPr>
        <p:spPr>
          <a:xfrm>
            <a:off x="8477250" y="3600450"/>
            <a:ext cx="2667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Positive residual means observed &gt; predicted. The model often predicts too cold.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049538-1630-4A2F-884F-FE87892D8CBA}"/>
              </a:ext>
            </a:extLst>
          </p:cNvPr>
          <p:cNvSpPr>
            <a:spLocks noGrp="1"/>
          </p:cNvSpPr>
          <p:nvPr/>
        </p:nvSpPr>
        <p:spPr>
          <a:xfrm>
            <a:off x="1200150" y="56769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Bottom line: useful signal, weak forecast. The residuals show where the simple model breaks down.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6CA15C-4FA8-4C58-9801-4B971FDF2D7D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 152 final project | Topic 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2BDEB8-68E4-46A1-9DA1-2E184CA2302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77711338"/>
      </p:ext>
    </p:extLst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Microsoft Macintosh PowerPoint</Application>
  <DocSecurity>0</DocSecurity>
  <PresentationFormat>宽屏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Yuchen Yang</cp:lastModifiedBy>
  <cp:revision>1</cp:revision>
  <dcterms:created xsi:type="dcterms:W3CDTF">2026-05-24T05:56:53Z</dcterms:created>
  <dcterms:modified xsi:type="dcterms:W3CDTF">2026-05-25T22:44:42Z</dcterms:modified>
</cp:coreProperties>
</file>